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Univers" panose="020B0503020202020204" pitchFamily="34" charset="0"/>
      <p:regular r:id="rId10"/>
    </p:embeddedFont>
    <p:embeddedFont>
      <p:font typeface="Univers 75 Black" pitchFamily="50" charset="0"/>
      <p:bold r:id="rId11"/>
    </p:embeddedFont>
    <p:embeddedFont>
      <p:font typeface="Univers Condensed" panose="020B0506020202050204" pitchFamily="34" charset="0"/>
      <p:regular r:id="rId12"/>
      <p:bold r:id="rId13"/>
    </p:embeddedFont>
    <p:embeddedFont>
      <p:font typeface="Univers LT Std 49 Light UltraCn" panose="020B040602020206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lew, Whitman J" userId="9fba991d-415e-4fd5-aa63-13c14645a838" providerId="ADAL" clId="{30B722A6-EF29-45DC-AC78-AC6B6E1FB3DF}"/>
    <pc:docChg chg="custSel modSld">
      <pc:chgData name="Corlew, Whitman J" userId="9fba991d-415e-4fd5-aa63-13c14645a838" providerId="ADAL" clId="{30B722A6-EF29-45DC-AC78-AC6B6E1FB3DF}" dt="2026-05-10T21:29:28.653" v="3" actId="478"/>
      <pc:docMkLst>
        <pc:docMk/>
      </pc:docMkLst>
      <pc:sldChg chg="delSp mod">
        <pc:chgData name="Corlew, Whitman J" userId="9fba991d-415e-4fd5-aa63-13c14645a838" providerId="ADAL" clId="{30B722A6-EF29-45DC-AC78-AC6B6E1FB3DF}" dt="2026-05-10T21:29:28.653" v="3" actId="478"/>
        <pc:sldMkLst>
          <pc:docMk/>
          <pc:sldMk cId="811527583" sldId="260"/>
        </pc:sldMkLst>
        <pc:graphicFrameChg chg="del">
          <ac:chgData name="Corlew, Whitman J" userId="9fba991d-415e-4fd5-aa63-13c14645a838" providerId="ADAL" clId="{30B722A6-EF29-45DC-AC78-AC6B6E1FB3DF}" dt="2026-05-10T21:29:28.653" v="3" actId="478"/>
          <ac:graphicFrameMkLst>
            <pc:docMk/>
            <pc:sldMk cId="811527583" sldId="260"/>
            <ac:graphicFrameMk id="2" creationId="{B517E240-A750-60F9-A779-B14226BA8853}"/>
          </ac:graphicFrameMkLst>
        </pc:graphicFrameChg>
      </pc:sldChg>
      <pc:sldChg chg="modSp mod">
        <pc:chgData name="Corlew, Whitman J" userId="9fba991d-415e-4fd5-aa63-13c14645a838" providerId="ADAL" clId="{30B722A6-EF29-45DC-AC78-AC6B6E1FB3DF}" dt="2026-05-04T10:16:44.147" v="1" actId="20577"/>
        <pc:sldMkLst>
          <pc:docMk/>
          <pc:sldMk cId="1499092989" sldId="262"/>
        </pc:sldMkLst>
        <pc:spChg chg="mod">
          <ac:chgData name="Corlew, Whitman J" userId="9fba991d-415e-4fd5-aa63-13c14645a838" providerId="ADAL" clId="{30B722A6-EF29-45DC-AC78-AC6B6E1FB3DF}" dt="2026-05-04T10:16:44.147" v="1" actId="20577"/>
          <ac:spMkLst>
            <pc:docMk/>
            <pc:sldMk cId="1499092989" sldId="262"/>
            <ac:spMk id="20" creationId="{EFCC8CC0-B1A2-88CD-22AE-9BD66E3B506E}"/>
          </ac:spMkLst>
        </pc:spChg>
        <pc:spChg chg="mod">
          <ac:chgData name="Corlew, Whitman J" userId="9fba991d-415e-4fd5-aa63-13c14645a838" providerId="ADAL" clId="{30B722A6-EF29-45DC-AC78-AC6B6E1FB3DF}" dt="2026-05-04T10:16:41.135" v="0" actId="14100"/>
          <ac:spMkLst>
            <pc:docMk/>
            <pc:sldMk cId="1499092989" sldId="262"/>
            <ac:spMk id="23" creationId="{F6ED765E-15E8-EF65-5136-0C45A066A762}"/>
          </ac:spMkLst>
        </pc:spChg>
      </pc:sldChg>
      <pc:sldChg chg="delSp mod">
        <pc:chgData name="Corlew, Whitman J" userId="9fba991d-415e-4fd5-aa63-13c14645a838" providerId="ADAL" clId="{30B722A6-EF29-45DC-AC78-AC6B6E1FB3DF}" dt="2026-05-10T21:29:26.319" v="2" actId="478"/>
        <pc:sldMkLst>
          <pc:docMk/>
          <pc:sldMk cId="3303013197" sldId="263"/>
        </pc:sldMkLst>
        <pc:graphicFrameChg chg="del">
          <ac:chgData name="Corlew, Whitman J" userId="9fba991d-415e-4fd5-aa63-13c14645a838" providerId="ADAL" clId="{30B722A6-EF29-45DC-AC78-AC6B6E1FB3DF}" dt="2026-05-10T21:29:26.319" v="2" actId="478"/>
          <ac:graphicFrameMkLst>
            <pc:docMk/>
            <pc:sldMk cId="3303013197" sldId="263"/>
            <ac:graphicFrameMk id="28" creationId="{2D86DF4F-7935-70E3-77FE-5B20ACAA203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C6A2-3834-5531-7C9F-5E7B1C052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7C88F-688B-019E-6516-1F7FC7C93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21C29-9F58-D91E-D321-AFE27908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2641A-B4A9-F5B5-9BDC-6F04E843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E161-72F5-05B4-CF71-5C497CF9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0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C70C-3C5F-D789-E66A-8D3A8478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F4E63-BF6F-D922-F1F5-A63502DD8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F24FA-3D52-F5FC-0F89-EF49D5D3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3B8F-EE1D-2B82-F3BD-8D29B9A1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D509F-FF8B-2C45-1D23-435C131E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4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83D9-069E-C371-3135-56931952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C0DC0-ACA6-E630-0D3C-565FBD3ED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349C-DF52-24CD-7DC7-44C9E730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39B2-EFBB-67AF-D105-27857671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A1749-89DA-B6EF-340F-BEEFFFCB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7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65BA-DD4C-6146-4F37-FCC6651F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AFD9E-5CB0-09AC-EB3C-2D4A95A72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89852-C0BC-5FC1-B608-A9A057B87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B749-F201-E4E2-8374-9E305387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A62F0-4DF3-AF94-80B7-680F3EEA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F97B0-2CDC-5BF7-48A9-E7D6A68A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6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D831-071A-1BDC-0D0D-640000D5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39787-11B9-E6A7-0CA7-7371C4028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09408-ECE5-6C60-9C8B-FEF5CF7E5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7E623-ADF9-6070-5304-F91E49593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B7D2A-28F0-5CFC-5DB9-093F5124D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EDB6C-0D32-358C-C592-8B264909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BEA8B-2E9D-34D7-7022-9942047B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78EB4-FBAD-D104-443E-D2F470DE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9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AEC7-6A04-446D-438D-609EF1D6C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E33E3-070B-E4BB-4BAA-F1D041F4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CF620-B33F-1F59-86DF-9A2FF416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BF1C5-F32C-AE8F-F03D-CF5E42D4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9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DB847-2B56-E9AC-4251-290C8A39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BB128-FABF-CE11-C5B7-07106C22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6F37A-C96B-2C01-EBF8-C625A6F1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0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8AD8-F9E8-83F2-6B6B-50B0447E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B4302-6060-527A-360D-3E3CB2B8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7AF74-2854-7A4A-5C85-9FFF5DAAD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FC4B6-504B-C001-BE60-05667F64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F21B-E6A7-EA4F-61C0-AFAFE2C22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F587-7FBD-FE59-218F-9CDD5944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81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BAA7-2EA2-F1A3-9F04-549EE839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7C683-53B7-D755-68EB-0CA248EDA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2848-4DA8-6C12-035D-DE4C776E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6BB1E-9DFE-759C-15F6-778F1C58A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C0BA3-5ABB-8213-EA94-34E3A2DB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B9372-6813-9C11-7C6A-B16B6EC2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1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886A-CFFB-4B44-AA37-30028110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BFB13-C43E-7816-912C-1DA2E50B7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EBAF-9F44-DF00-9196-484697ED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C3F2C-43FC-708E-CB2A-94AFD351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D694-66ED-E726-EB69-A48DF116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7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1633E-F530-67C5-BCB0-004A81436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1C3FA-606A-71A8-FAA4-1B7C50A6E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31934-A26D-3683-C130-980CF8F6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066C9-B4F0-13EA-0C23-1AA08427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2F45-40B1-0E70-0461-447EDDE3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1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94E79-2E9D-12BE-2E72-C139674A3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A0A5-4279-8217-73A2-E632C77CA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0D91-6881-1F70-D5B7-0CFBA548F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ECE-5A9A-4926-9111-17A178CCDE8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36943-6571-9A60-322B-053B51D1B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B2100-0B38-0E74-3645-BCF34AD04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0BA20-47FA-4BC8-ADE4-41EBEC318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3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hyperlink" Target="https://public.tableau.com/views/Final_17773470710610/FinalProduct?:language=en-US&amp;:sid=&amp;:redirect=auth&amp;:display_count=n&amp;:origin=viz_share_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ED90B27-DB21-E5EC-0EFF-B6690352DB6F}"/>
              </a:ext>
            </a:extLst>
          </p:cNvPr>
          <p:cNvSpPr txBox="1"/>
          <p:nvPr/>
        </p:nvSpPr>
        <p:spPr>
          <a:xfrm>
            <a:off x="-716667" y="-39798"/>
            <a:ext cx="7086600" cy="787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Well here we are again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It's always such a pleasure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Remember when you tried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to kill me twice?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Oh how we laughed and laughed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Except I wasn't laughing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Under the circumstances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I've been shockingly nice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You want your freedom?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Take it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That's what I'm counting on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 used to want you dead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but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Now I only want you gone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She was a lot like you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(Maybe not quite as heavy)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Now little Caroline is in here too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One day they woke me up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So I could live forever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It's such a shame the same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will never happen to you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You've got your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short sad life left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That's what I'm counting on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I'll let you get right to it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Now I only want you gone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Goodbye my only friend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Oh, did you think I meant you?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That would be funny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if it weren't so sad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Well you have been replaced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 don't need anyone now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When I delete you maybe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I'll stop feeling so bad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ctr">
              <a:buNone/>
            </a:pP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Go make some new disaster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That's what I'm counting on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You're someone else's problem</a:t>
            </a:r>
            <a:b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</a:br>
            <a:r>
              <a:rPr lang="en-US" sz="1100" b="0" i="0" dirty="0">
                <a:solidFill>
                  <a:schemeClr val="accent1">
                    <a:alpha val="30000"/>
                  </a:schemeClr>
                </a:solidFill>
                <a:effectLst/>
                <a:latin typeface="Courier New" panose="02070309020205020404" pitchFamily="49" charset="0"/>
              </a:rPr>
              <a:t>Now I only want you gone (×3)</a:t>
            </a:r>
            <a:endParaRPr lang="en-US" sz="1100" b="0" i="0" dirty="0">
              <a:solidFill>
                <a:schemeClr val="accent1">
                  <a:alpha val="3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6201D6-DFC2-03B6-9D1E-9AD46E295F81}"/>
              </a:ext>
            </a:extLst>
          </p:cNvPr>
          <p:cNvSpPr txBox="1"/>
          <p:nvPr/>
        </p:nvSpPr>
        <p:spPr>
          <a:xfrm>
            <a:off x="-89780" y="-69178"/>
            <a:ext cx="3002698" cy="1126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was a triumph.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I'm making a note here: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huge success.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It's hard to overstate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 satisfaction.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Aperture Science.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 do what we must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Because we can.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the good of all of us.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 the ones who are dead.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 there's no sense crying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 every mistake.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just keep on trying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Till you run out of cake.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the Science gets done.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you make a neat gun.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the people who are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Still alive.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I'm not even angry.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I'm being so sincere right now.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 though you broke my heart.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killed me.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tore me to pieces.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threw every piece into a fire.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they burned it hurt because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was so happy for you!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Now these points of data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 a beautiful line.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we're out of beta.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We're releasing on time.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 I'm </a:t>
            </a:r>
            <a:r>
              <a:rPr lang="en-US" sz="1100" dirty="0" err="1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GLaD</a:t>
            </a: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I got burned.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Think of all the things we learned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the people who are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Still alive.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 ahead and leave me.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think I prefer to stay inside.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Maybe you'll find someone else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 help you.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Maybe Black Mesa...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 WAS A JOKE, HA </a:t>
            </a:r>
            <a:r>
              <a:rPr lang="en-US" sz="1100" dirty="0" err="1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</a:t>
            </a: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FAT CHANCE.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Anyway this cake is great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It's so delicious and moist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 at me still talking when there's science to do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 I look out there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makes me </a:t>
            </a:r>
            <a:r>
              <a:rPr lang="en-US" sz="1100" dirty="0" err="1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GLaD</a:t>
            </a: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I'm not you.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I've experiments to run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There is research to be done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the people who are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Still alive.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believe me I am still alive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I'm doing science and I'm still alive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feel FANTASTIC and I'm still alive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you're dying I'll be still alive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when you're dead I will be still alive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Still alive</a:t>
            </a:r>
            <a:b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accent2">
                    <a:alpha val="3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Still alive.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7F76FA-F60E-6B55-F71F-74C7699BC95E}"/>
              </a:ext>
            </a:extLst>
          </p:cNvPr>
          <p:cNvGrpSpPr/>
          <p:nvPr/>
        </p:nvGrpSpPr>
        <p:grpSpPr>
          <a:xfrm>
            <a:off x="3298422" y="1347020"/>
            <a:ext cx="3966962" cy="3677264"/>
            <a:chOff x="-319194" y="875071"/>
            <a:chExt cx="5673854" cy="522225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184F80F-0B2F-4925-9229-71B8A7182BD0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97351C7-9A5A-2652-34E9-EBA36FCA913F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51FAE6-8FDF-2265-C209-B0FA0433D18C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45044E-8C91-B0C0-E6F1-274AA6F426C6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48BBB99-1D08-4BAB-CA76-E74297A53086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5E7F26-6E57-B416-182A-C1EB5ACBF775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0BBBB34-2717-2C62-E8CC-DF384A51E591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136BD8-9935-464C-99BF-CBFE02749B51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208C9D0-E7BA-C47A-E3D7-8D7A3BEF2747}"/>
              </a:ext>
            </a:extLst>
          </p:cNvPr>
          <p:cNvSpPr/>
          <p:nvPr/>
        </p:nvSpPr>
        <p:spPr>
          <a:xfrm rot="14972103">
            <a:off x="2750965" y="2288267"/>
            <a:ext cx="1311614" cy="1759094"/>
          </a:xfrm>
          <a:custGeom>
            <a:avLst/>
            <a:gdLst>
              <a:gd name="csX0" fmla="*/ 1736786 w 1736786"/>
              <a:gd name="csY0" fmla="*/ 2096733 h 2115209"/>
              <a:gd name="csX1" fmla="*/ 1611225 w 1736786"/>
              <a:gd name="csY1" fmla="*/ 2109550 h 2115209"/>
              <a:gd name="csX2" fmla="*/ 560096 w 1736786"/>
              <a:gd name="csY2" fmla="*/ 1955056 h 2115209"/>
              <a:gd name="csX3" fmla="*/ 102871 w 1736786"/>
              <a:gd name="csY3" fmla="*/ 1730125 h 2115209"/>
              <a:gd name="csX4" fmla="*/ 0 w 1736786"/>
              <a:gd name="csY4" fmla="*/ 1658574 h 2115209"/>
              <a:gd name="csX5" fmla="*/ 236839 w 1736786"/>
              <a:gd name="csY5" fmla="*/ 0 h 2115209"/>
              <a:gd name="csX6" fmla="*/ 1736786 w 1736786"/>
              <a:gd name="csY6" fmla="*/ 2096733 h 2115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736786" h="2115209">
                <a:moveTo>
                  <a:pt x="1736786" y="2096733"/>
                </a:moveTo>
                <a:lnTo>
                  <a:pt x="1611225" y="2109550"/>
                </a:lnTo>
                <a:cubicBezTo>
                  <a:pt x="1264519" y="2132887"/>
                  <a:pt x="907137" y="2084567"/>
                  <a:pt x="560096" y="1955056"/>
                </a:cubicBezTo>
                <a:cubicBezTo>
                  <a:pt x="397381" y="1894332"/>
                  <a:pt x="244642" y="1818635"/>
                  <a:pt x="102871" y="1730125"/>
                </a:cubicBezTo>
                <a:lnTo>
                  <a:pt x="0" y="1658574"/>
                </a:lnTo>
                <a:lnTo>
                  <a:pt x="236839" y="0"/>
                </a:lnTo>
                <a:lnTo>
                  <a:pt x="1736786" y="209673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9EF31F-1913-432A-BD71-C2B2139C9310}"/>
              </a:ext>
            </a:extLst>
          </p:cNvPr>
          <p:cNvSpPr txBox="1"/>
          <p:nvPr/>
        </p:nvSpPr>
        <p:spPr>
          <a:xfrm>
            <a:off x="3298422" y="2243830"/>
            <a:ext cx="107802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i="1" dirty="0">
                <a:latin typeface="Univers 75 Black" pitchFamily="50" charset="0"/>
                <a:ea typeface="Verdana" panose="020B0604030504040204" pitchFamily="34" charset="0"/>
              </a:rPr>
              <a:t>APERTURE</a:t>
            </a:r>
            <a:endParaRPr lang="en-US" sz="9600" i="1" dirty="0">
              <a:latin typeface="Univers 75 Black" pitchFamily="50" charset="0"/>
              <a:ea typeface="Verdan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22424-050A-272B-C689-C622FE3573DA}"/>
              </a:ext>
            </a:extLst>
          </p:cNvPr>
          <p:cNvSpPr txBox="1"/>
          <p:nvPr/>
        </p:nvSpPr>
        <p:spPr>
          <a:xfrm>
            <a:off x="4150759" y="3410622"/>
            <a:ext cx="5702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Univers" panose="020B0503020202020204" pitchFamily="34" charset="0"/>
              </a:rPr>
              <a:t>L A B O R A T O R I E 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061B09-3379-A396-3CE4-A950F1789B7C}"/>
              </a:ext>
            </a:extLst>
          </p:cNvPr>
          <p:cNvCxnSpPr>
            <a:cxnSpLocks/>
          </p:cNvCxnSpPr>
          <p:nvPr/>
        </p:nvCxnSpPr>
        <p:spPr>
          <a:xfrm>
            <a:off x="10865387" y="-147145"/>
            <a:ext cx="0" cy="7167705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7F9407-E766-2251-BB2C-6CB66E2CDD77}"/>
              </a:ext>
            </a:extLst>
          </p:cNvPr>
          <p:cNvCxnSpPr>
            <a:cxnSpLocks/>
          </p:cNvCxnSpPr>
          <p:nvPr/>
        </p:nvCxnSpPr>
        <p:spPr>
          <a:xfrm>
            <a:off x="11450112" y="-69178"/>
            <a:ext cx="0" cy="702056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42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3)">
                                          <p:cBhvr>
                                            <p:cTn id="7" dur="75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9" presetID="35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fill="hold" nodeType="withEffect" p14:presetBounceEnd="25000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 p14:bounceEnd="25000">
                                          <p:cBhvr>
                                            <p:cTn id="12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14" presetID="14" presetClass="entr" presetSubtype="10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6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50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75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3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3)">
                                          <p:cBhvr>
                                            <p:cTn id="7" dur="75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9" presetID="35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2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14" presetID="14" presetClass="entr" presetSubtype="10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16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50" presetClass="entr" presetSubtype="0" decel="10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75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3" grpId="0"/>
          <p:bldP spid="14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32BB0-BC1B-C890-DCA8-8377573E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EDAB25-014F-3765-0969-A8971D39F5BD}"/>
              </a:ext>
            </a:extLst>
          </p:cNvPr>
          <p:cNvSpPr txBox="1"/>
          <p:nvPr/>
        </p:nvSpPr>
        <p:spPr>
          <a:xfrm>
            <a:off x="304800" y="-88490"/>
            <a:ext cx="14158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Univers LT Std 49 Light UltraCn" panose="020B0406020202060204" pitchFamily="34" charset="0"/>
              </a:rPr>
              <a:t>01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DC3393-A08B-3A92-4283-B47CE8939FFF}"/>
              </a:ext>
            </a:extLst>
          </p:cNvPr>
          <p:cNvCxnSpPr>
            <a:cxnSpLocks/>
          </p:cNvCxnSpPr>
          <p:nvPr/>
        </p:nvCxnSpPr>
        <p:spPr>
          <a:xfrm>
            <a:off x="10865387" y="-147145"/>
            <a:ext cx="0" cy="7167705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A0B6A6-83A9-9564-2EDF-66AD88AE257E}"/>
              </a:ext>
            </a:extLst>
          </p:cNvPr>
          <p:cNvCxnSpPr>
            <a:cxnSpLocks/>
          </p:cNvCxnSpPr>
          <p:nvPr/>
        </p:nvCxnSpPr>
        <p:spPr>
          <a:xfrm>
            <a:off x="11450112" y="-69178"/>
            <a:ext cx="0" cy="702056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C7C6919-D85B-9930-80EE-243F04E51C84}"/>
              </a:ext>
            </a:extLst>
          </p:cNvPr>
          <p:cNvGrpSpPr/>
          <p:nvPr/>
        </p:nvGrpSpPr>
        <p:grpSpPr>
          <a:xfrm>
            <a:off x="-89229" y="5575300"/>
            <a:ext cx="1415841" cy="1282700"/>
            <a:chOff x="-319194" y="875071"/>
            <a:chExt cx="5673854" cy="522225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2EAACEB-6A74-32A6-FE17-15AE3DE4DE13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5DB1C1-B4E7-6BB0-EBF3-5386CCBFEF5E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FF4571C-E68A-CF5F-E57B-49C21EDFBA69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853554-4353-3C57-3C38-E8CB981B98A1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2CDAC4-CEE7-C9C8-213C-71BBFD6F0CBD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A944D0-21F9-5BB0-81B4-FD4AD86CFBBA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17C8CD8-F8FE-FAA0-D1DD-BC3DE28E4001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936FC98-B932-E109-D766-35BADCF7F8AB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702B83F-84F8-303D-B2EE-B0CD50884BE7}"/>
              </a:ext>
            </a:extLst>
          </p:cNvPr>
          <p:cNvSpPr txBox="1"/>
          <p:nvPr/>
        </p:nvSpPr>
        <p:spPr>
          <a:xfrm>
            <a:off x="1720645" y="2159434"/>
            <a:ext cx="78382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2800" b="1" dirty="0"/>
              <a:t>Goals</a:t>
            </a:r>
            <a:r>
              <a:rPr lang="en-US" sz="2800" dirty="0"/>
              <a:t>: Examine the relationships between taxation levels and housing code violations.</a:t>
            </a:r>
          </a:p>
          <a:p>
            <a:pPr marL="285750" indent="-285750">
              <a:buBlip>
                <a:blip r:embed="rId2"/>
              </a:buBlip>
            </a:pPr>
            <a:r>
              <a:rPr lang="en-US" sz="2800" b="1" dirty="0">
                <a:latin typeface="Univers Condensed" panose="020B0506020202050204" pitchFamily="34" charset="0"/>
              </a:rPr>
              <a:t>Tools</a:t>
            </a:r>
            <a:r>
              <a:rPr lang="en-US" sz="2800" dirty="0">
                <a:latin typeface="Univers Condensed" panose="020B0506020202050204" pitchFamily="34" charset="0"/>
              </a:rPr>
              <a:t>:</a:t>
            </a:r>
          </a:p>
          <a:p>
            <a:pPr marL="285750" indent="-285750">
              <a:buBlip>
                <a:blip r:embed="rId2"/>
              </a:buBlip>
            </a:pPr>
            <a:r>
              <a:rPr lang="en-US" sz="2800" dirty="0">
                <a:latin typeface="Univers Condensed" panose="020B0506020202050204" pitchFamily="34" charset="0"/>
              </a:rPr>
              <a:t>Tableau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2800" dirty="0">
                <a:latin typeface="Univers Condensed" panose="020B0506020202050204" pitchFamily="34" charset="0"/>
              </a:rPr>
              <a:t>Data Visualization</a:t>
            </a:r>
          </a:p>
          <a:p>
            <a:pPr marL="285750" indent="-285750">
              <a:buBlip>
                <a:blip r:embed="rId2"/>
              </a:buBlip>
            </a:pPr>
            <a:r>
              <a:rPr lang="en-US" sz="2800" dirty="0">
                <a:latin typeface="Univers Condensed" panose="020B0506020202050204" pitchFamily="34" charset="0"/>
              </a:rPr>
              <a:t>RStudio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2800" dirty="0">
                <a:latin typeface="Univers Condensed" panose="020B0506020202050204" pitchFamily="34" charset="0"/>
              </a:rPr>
              <a:t>Wrangling and Cleaning</a:t>
            </a:r>
          </a:p>
          <a:p>
            <a:pPr marL="285750" indent="-285750">
              <a:buBlip>
                <a:blip r:embed="rId2"/>
              </a:buBlip>
            </a:pPr>
            <a:r>
              <a:rPr lang="en-US" sz="2800" dirty="0">
                <a:latin typeface="Univers Condensed" panose="020B0506020202050204" pitchFamily="34" charset="0"/>
              </a:rPr>
              <a:t>US Census Geocoder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2800" dirty="0">
                <a:latin typeface="Univers Condensed" panose="020B0506020202050204" pitchFamily="34" charset="0"/>
              </a:rPr>
              <a:t>Location Data Creation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02FAD-4070-FB49-5D1A-8BB49D951841}"/>
              </a:ext>
            </a:extLst>
          </p:cNvPr>
          <p:cNvSpPr txBox="1"/>
          <p:nvPr/>
        </p:nvSpPr>
        <p:spPr>
          <a:xfrm>
            <a:off x="1562100" y="241300"/>
            <a:ext cx="8585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Univers 75 Black" pitchFamily="50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3350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312B1-9BA2-EA58-2DBC-9F37A15C26D4}"/>
              </a:ext>
            </a:extLst>
          </p:cNvPr>
          <p:cNvSpPr txBox="1"/>
          <p:nvPr/>
        </p:nvSpPr>
        <p:spPr>
          <a:xfrm>
            <a:off x="304800" y="-88490"/>
            <a:ext cx="14158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Univers LT Std 49 Light UltraCn" panose="020B0406020202060204" pitchFamily="34" charset="0"/>
              </a:rPr>
              <a:t>02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C0358F-5D09-B8CD-2A67-3F9E978A001F}"/>
              </a:ext>
            </a:extLst>
          </p:cNvPr>
          <p:cNvGrpSpPr/>
          <p:nvPr/>
        </p:nvGrpSpPr>
        <p:grpSpPr>
          <a:xfrm>
            <a:off x="-89229" y="5575300"/>
            <a:ext cx="1415841" cy="1282700"/>
            <a:chOff x="-319194" y="875071"/>
            <a:chExt cx="5673854" cy="522225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ECB6F52-A47C-98C3-8B08-251EDCE29B06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35A27D-1508-E109-F7BA-EBA2095CBF1E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3F67249-6330-111E-B196-79413EB66E67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A98ADA-6A7F-87E2-DF2D-EB23919079EA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A0FB3E-484C-6A4A-7582-64966D3C913D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0DB1EE-FBD2-27E6-480B-B1FC53AFFEDA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6B4BD2D-AF23-5DDC-5618-1F2F7F6153BD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A83CDA4-4603-7200-2F2B-B7E65B904DE8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D723324-9B75-B457-5887-8A9C49043D26}"/>
              </a:ext>
            </a:extLst>
          </p:cNvPr>
          <p:cNvSpPr txBox="1"/>
          <p:nvPr/>
        </p:nvSpPr>
        <p:spPr>
          <a:xfrm>
            <a:off x="1720645" y="2159434"/>
            <a:ext cx="78382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Real Property Tax 2024 : Data Montgomery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~345,000 Cases, 75 Variables</a:t>
            </a:r>
          </a:p>
          <a:p>
            <a:pPr lvl="1"/>
            <a:endParaRPr lang="en-US" sz="3200" dirty="0">
              <a:latin typeface="Univers Condensed" panose="020B0506020202050204" pitchFamily="34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Housing Code Violations :Data Montgomery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~935,000 Cases, 24 Variables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FDD115-D36A-BD9E-B80D-A02113CD9FFB}"/>
              </a:ext>
            </a:extLst>
          </p:cNvPr>
          <p:cNvSpPr txBox="1"/>
          <p:nvPr/>
        </p:nvSpPr>
        <p:spPr>
          <a:xfrm>
            <a:off x="1562100" y="241300"/>
            <a:ext cx="8585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Univers 75 Black" pitchFamily="50" charset="0"/>
              </a:rPr>
              <a:t>Datasets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2D6809-F0D8-AF87-1532-084C78A0DA59}"/>
              </a:ext>
            </a:extLst>
          </p:cNvPr>
          <p:cNvCxnSpPr>
            <a:cxnSpLocks/>
          </p:cNvCxnSpPr>
          <p:nvPr/>
        </p:nvCxnSpPr>
        <p:spPr>
          <a:xfrm>
            <a:off x="10878087" y="-185245"/>
            <a:ext cx="0" cy="7167705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FBF3F6-3D46-261E-EAB9-74847E8EA1E5}"/>
              </a:ext>
            </a:extLst>
          </p:cNvPr>
          <p:cNvCxnSpPr>
            <a:cxnSpLocks/>
          </p:cNvCxnSpPr>
          <p:nvPr/>
        </p:nvCxnSpPr>
        <p:spPr>
          <a:xfrm>
            <a:off x="11462812" y="-107278"/>
            <a:ext cx="0" cy="702056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948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4045E-F8B9-77D4-CAD0-DDFF58C5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988A4A-2ECA-252E-C0C4-9681944ECCED}"/>
              </a:ext>
            </a:extLst>
          </p:cNvPr>
          <p:cNvSpPr txBox="1"/>
          <p:nvPr/>
        </p:nvSpPr>
        <p:spPr>
          <a:xfrm>
            <a:off x="304800" y="-88490"/>
            <a:ext cx="14158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Univers LT Std 49 Light UltraCn" panose="020B0406020202060204" pitchFamily="34" charset="0"/>
              </a:rPr>
              <a:t>03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0A3C75-0F2B-A3A6-72A0-7798CF156D59}"/>
              </a:ext>
            </a:extLst>
          </p:cNvPr>
          <p:cNvGrpSpPr/>
          <p:nvPr/>
        </p:nvGrpSpPr>
        <p:grpSpPr>
          <a:xfrm>
            <a:off x="-89229" y="5575300"/>
            <a:ext cx="1415841" cy="1282700"/>
            <a:chOff x="-319194" y="875071"/>
            <a:chExt cx="5673854" cy="522225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6EABAE5-58F4-B2D0-0A85-2821A6AF6E6D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ACF02A-3C0E-B24B-2D82-2715254B7BC0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888A69F-4143-0C8A-FEF6-2BBA99822E04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A9F529-B9DE-191C-C9F2-3219272A1ACE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B2EB7D8-1E63-08F6-01AC-8BF4AE687BCE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B963FE-A8F8-0B49-20FA-D95783087DCB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C5C3354-1EA5-D8A3-712D-B324CC13B27E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3AAE7B-6C82-2866-7A21-71515C744EB0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80BDE2F-175E-2EB4-9A5F-8262300C9F29}"/>
              </a:ext>
            </a:extLst>
          </p:cNvPr>
          <p:cNvSpPr txBox="1"/>
          <p:nvPr/>
        </p:nvSpPr>
        <p:spPr>
          <a:xfrm>
            <a:off x="1720645" y="2159434"/>
            <a:ext cx="78382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Tax Variables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Remove Commas and Currency Symbols</a:t>
            </a:r>
          </a:p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Outlier Filtering</a:t>
            </a:r>
          </a:p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Violation Tallying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AA183-7C59-6C8F-7C11-607E6ECCD2FD}"/>
              </a:ext>
            </a:extLst>
          </p:cNvPr>
          <p:cNvSpPr txBox="1"/>
          <p:nvPr/>
        </p:nvSpPr>
        <p:spPr>
          <a:xfrm>
            <a:off x="1562100" y="241300"/>
            <a:ext cx="8585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Univers 75 Black" pitchFamily="50" charset="0"/>
              </a:rPr>
              <a:t>Cleaning Summary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BF1349-9EFD-B5ED-3717-21429E090FAD}"/>
              </a:ext>
            </a:extLst>
          </p:cNvPr>
          <p:cNvCxnSpPr>
            <a:cxnSpLocks/>
          </p:cNvCxnSpPr>
          <p:nvPr/>
        </p:nvCxnSpPr>
        <p:spPr>
          <a:xfrm>
            <a:off x="10878087" y="-185245"/>
            <a:ext cx="0" cy="7167705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76E542-468D-9768-82F5-874E4EF09392}"/>
              </a:ext>
            </a:extLst>
          </p:cNvPr>
          <p:cNvCxnSpPr>
            <a:cxnSpLocks/>
          </p:cNvCxnSpPr>
          <p:nvPr/>
        </p:nvCxnSpPr>
        <p:spPr>
          <a:xfrm>
            <a:off x="11462812" y="-107278"/>
            <a:ext cx="0" cy="702056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5275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hlinkClick r:id="rId2"/>
                <a:extLst>
                  <a:ext uri="{FF2B5EF4-FFF2-40B4-BE49-F238E27FC236}">
                    <a16:creationId xmlns:a16="http://schemas.microsoft.com/office/drawing/2014/main" id="{263BA01E-7FF7-2D48-3C36-A694F940D0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60095207"/>
                  </p:ext>
                </p:extLst>
              </p:nvPr>
            </p:nvGraphicFramePr>
            <p:xfrm>
              <a:off x="5224517" y="1544756"/>
              <a:ext cx="1742964" cy="381928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742964" cy="3819281"/>
                    </a:xfrm>
                    <a:prstGeom prst="rect">
                      <a:avLst/>
                    </a:prstGeom>
                    <a:effectLst>
                      <a:outerShdw blurRad="50800" dist="114300" dir="16200000" rotWithShape="0">
                        <a:prstClr val="black">
                          <a:alpha val="40000"/>
                        </a:prstClr>
                      </a:outerShdw>
                    </a:effectLst>
                  </am3d:spPr>
                  <am3d:camera>
                    <am3d:pos x="0" y="0" z="581403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406" d="1000000"/>
                    <am3d:preTrans dx="0" dy="0" dz="-1800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3461710" ay="9115" az="1440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362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hlinkClick r:id="rId2"/>
                <a:extLst>
                  <a:ext uri="{FF2B5EF4-FFF2-40B4-BE49-F238E27FC236}">
                    <a16:creationId xmlns:a16="http://schemas.microsoft.com/office/drawing/2014/main" id="{263BA01E-7FF7-2D48-3C36-A694F940D0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4517" y="1544756"/>
                <a:ext cx="1742964" cy="3819281"/>
              </a:xfrm>
              <a:prstGeom prst="rect">
                <a:avLst/>
              </a:prstGeom>
              <a:effectLst>
                <a:outerShdw blurRad="50800" dist="114300" dir="16200000" rotWithShape="0">
                  <a:prstClr val="black">
                    <a:alpha val="40000"/>
                  </a:prst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880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ABD57-9CD0-9F64-003A-DF515CCC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911FF2-F3AD-E03D-0D9D-0006E760E3DA}"/>
              </a:ext>
            </a:extLst>
          </p:cNvPr>
          <p:cNvSpPr txBox="1"/>
          <p:nvPr/>
        </p:nvSpPr>
        <p:spPr>
          <a:xfrm>
            <a:off x="304800" y="-88490"/>
            <a:ext cx="14158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Univers LT Std 49 Light UltraCn" panose="020B0406020202060204" pitchFamily="34" charset="0"/>
              </a:rPr>
              <a:t>04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2E27B6-348B-81F0-C10E-99771EF0AD9E}"/>
              </a:ext>
            </a:extLst>
          </p:cNvPr>
          <p:cNvGrpSpPr/>
          <p:nvPr/>
        </p:nvGrpSpPr>
        <p:grpSpPr>
          <a:xfrm>
            <a:off x="-89229" y="5575300"/>
            <a:ext cx="1415841" cy="1282700"/>
            <a:chOff x="-319194" y="875071"/>
            <a:chExt cx="5673854" cy="522225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0366231-7339-D9A5-BFCA-BA0082A7E752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343AE7C-AB62-0BFD-7408-253ACF168B36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B888348-4261-BD5C-BE56-1383B8841561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598E6AC-E706-3A76-DC01-A81FF3AB5C05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02CDECC-857F-3D9E-BFBB-C9ED676B1951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3FF7C86-456D-35D5-D7D8-1E74DB9C93C0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93D8689-449D-3764-478F-D0D9C8969FF1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DE8DD4-4DFA-E03B-8460-9E3B642C952C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4B2CEB3-BF08-2638-6CF2-79DF7C869A86}"/>
              </a:ext>
            </a:extLst>
          </p:cNvPr>
          <p:cNvSpPr txBox="1"/>
          <p:nvPr/>
        </p:nvSpPr>
        <p:spPr>
          <a:xfrm>
            <a:off x="1720645" y="2159434"/>
            <a:ext cx="783827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Difficulties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Engineering Questions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Optimizing Visualizations</a:t>
            </a:r>
          </a:p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Rewarding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Learning PowerPoint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Better understanding Tableau</a:t>
            </a:r>
          </a:p>
          <a:p>
            <a:pPr marL="285750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Recommendations</a:t>
            </a:r>
          </a:p>
          <a:p>
            <a:pPr marL="742950" lvl="1" indent="-285750">
              <a:buBlip>
                <a:blip r:embed="rId2"/>
              </a:buBlip>
            </a:pPr>
            <a:r>
              <a:rPr lang="en-US" sz="3200" dirty="0">
                <a:latin typeface="Univers Condensed" panose="020B0506020202050204" pitchFamily="34" charset="0"/>
              </a:rPr>
              <a:t>Take your own look around!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4E0AF-804A-8309-A6F4-99F90C69AD98}"/>
              </a:ext>
            </a:extLst>
          </p:cNvPr>
          <p:cNvSpPr txBox="1"/>
          <p:nvPr/>
        </p:nvSpPr>
        <p:spPr>
          <a:xfrm>
            <a:off x="1562100" y="241300"/>
            <a:ext cx="8585199" cy="769441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Univers 75 Black" pitchFamily="50" charset="0"/>
              </a:rPr>
              <a:t>Reflection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EF01E3-BB91-6DEA-D0F3-01B5164FD530}"/>
              </a:ext>
            </a:extLst>
          </p:cNvPr>
          <p:cNvCxnSpPr>
            <a:cxnSpLocks/>
          </p:cNvCxnSpPr>
          <p:nvPr/>
        </p:nvCxnSpPr>
        <p:spPr>
          <a:xfrm>
            <a:off x="10878087" y="-185245"/>
            <a:ext cx="0" cy="7167705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20AD49-7DA0-86A7-50B3-9ABE45729731}"/>
              </a:ext>
            </a:extLst>
          </p:cNvPr>
          <p:cNvCxnSpPr>
            <a:cxnSpLocks/>
          </p:cNvCxnSpPr>
          <p:nvPr/>
        </p:nvCxnSpPr>
        <p:spPr>
          <a:xfrm>
            <a:off x="11462812" y="-107278"/>
            <a:ext cx="0" cy="702056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91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3A31A-71E1-EC92-FCB6-D0273E00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A2EB23-860A-F9F4-A081-50D7EADFEC7F}"/>
              </a:ext>
            </a:extLst>
          </p:cNvPr>
          <p:cNvSpPr txBox="1"/>
          <p:nvPr/>
        </p:nvSpPr>
        <p:spPr>
          <a:xfrm>
            <a:off x="304800" y="-88490"/>
            <a:ext cx="14158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Univers LT Std 49 Light UltraCn" panose="020B0406020202060204" pitchFamily="34" charset="0"/>
              </a:rPr>
              <a:t>05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FF4D74-AC84-CC2B-DF61-9C06291FAF67}"/>
              </a:ext>
            </a:extLst>
          </p:cNvPr>
          <p:cNvGrpSpPr/>
          <p:nvPr/>
        </p:nvGrpSpPr>
        <p:grpSpPr>
          <a:xfrm>
            <a:off x="-89229" y="5575300"/>
            <a:ext cx="1415841" cy="1282700"/>
            <a:chOff x="-319194" y="875071"/>
            <a:chExt cx="5673854" cy="522225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F591B9D-5A89-3501-2625-28B8683E28A0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20A3A0-BEFC-E19A-0EE0-1E4AED5ABA5C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BC4BFF0-B598-1A1A-3471-7A90C4B0A18C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B06C100-DF97-F53F-76EB-3A38AEE0F35F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0FADFA3-1300-5FD3-E2E5-DA775C4012F6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CB0EEF-1A0C-E133-4CD6-B223DA4F4B6A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EF2835-7B07-DA0D-BDE0-8B644918EFDD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AD74A-785F-DEC7-C9E4-480232B10F15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FCC8CC0-B1A2-88CD-22AE-9BD66E3B506E}"/>
              </a:ext>
            </a:extLst>
          </p:cNvPr>
          <p:cNvSpPr txBox="1"/>
          <p:nvPr/>
        </p:nvSpPr>
        <p:spPr>
          <a:xfrm>
            <a:off x="2288385" y="-413788"/>
            <a:ext cx="783827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Thank You to:</a:t>
            </a:r>
          </a:p>
          <a:p>
            <a:pPr algn="ctr"/>
            <a:endParaRPr lang="en-US" sz="3200" dirty="0">
              <a:latin typeface="Univers Condensed" panose="020B0506020202050204" pitchFamily="34" charset="0"/>
            </a:endParaRP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For Your Education </a:t>
            </a:r>
            <a:r>
              <a:rPr lang="en-US" sz="3200">
                <a:latin typeface="Univers Condensed" panose="020B0506020202050204" pitchFamily="34" charset="0"/>
              </a:rPr>
              <a:t>and Feedback</a:t>
            </a:r>
            <a:r>
              <a:rPr lang="en-US" sz="3200" dirty="0">
                <a:latin typeface="Univers Condensed" panose="020B0506020202050204" pitchFamily="34" charset="0"/>
              </a:rPr>
              <a:t>:</a:t>
            </a:r>
          </a:p>
          <a:p>
            <a:pPr algn="ctr"/>
            <a:endParaRPr lang="en-US" sz="3200" dirty="0">
              <a:latin typeface="Univers Condensed" panose="020B0506020202050204" pitchFamily="34" charset="0"/>
            </a:endParaRP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Prof. Mais </a:t>
            </a:r>
            <a:r>
              <a:rPr lang="en-US" sz="3200" dirty="0" err="1">
                <a:latin typeface="Univers Condensed" panose="020B0506020202050204" pitchFamily="34" charset="0"/>
              </a:rPr>
              <a:t>Alraee</a:t>
            </a:r>
            <a:endParaRPr lang="en-US" sz="3200" dirty="0">
              <a:latin typeface="Univers Condensed" panose="020B0506020202050204" pitchFamily="34" charset="0"/>
            </a:endParaRP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Dr. Lori Perine</a:t>
            </a: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Dr. Rachel Saidi</a:t>
            </a: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Prof. Bonard Molina-Garcia</a:t>
            </a: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My Classmates</a:t>
            </a:r>
          </a:p>
          <a:p>
            <a:pPr algn="ctr"/>
            <a:endParaRPr lang="en-US" sz="3200" dirty="0">
              <a:latin typeface="Univers Condensed" panose="020B0506020202050204" pitchFamily="34" charset="0"/>
            </a:endParaRP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Special Thanks To:</a:t>
            </a:r>
          </a:p>
          <a:p>
            <a:pPr algn="ctr"/>
            <a:endParaRPr lang="en-US" sz="3200" dirty="0">
              <a:latin typeface="Univers Condensed" panose="020B0506020202050204" pitchFamily="34" charset="0"/>
            </a:endParaRP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Paul Hanscom</a:t>
            </a: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Lily Chang</a:t>
            </a:r>
          </a:p>
          <a:p>
            <a:pPr algn="ctr"/>
            <a:r>
              <a:rPr lang="en-US" sz="3200" dirty="0">
                <a:latin typeface="Univers Condensed" panose="020B0506020202050204" pitchFamily="34" charset="0"/>
              </a:rPr>
              <a:t>Dr. Lomax Boyd</a:t>
            </a:r>
          </a:p>
          <a:p>
            <a:pPr algn="ctr"/>
            <a:endParaRPr lang="en-US" sz="3200" dirty="0">
              <a:latin typeface="Univers Condensed" panose="020B050602020205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ED765E-15E8-EF65-5136-0C45A066A762}"/>
              </a:ext>
            </a:extLst>
          </p:cNvPr>
          <p:cNvSpPr txBox="1"/>
          <p:nvPr/>
        </p:nvSpPr>
        <p:spPr>
          <a:xfrm>
            <a:off x="1562101" y="241300"/>
            <a:ext cx="5910416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Univers 75 Black" pitchFamily="50" charset="0"/>
              </a:rPr>
              <a:t>Thanks!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197F45-4430-D645-BCF2-061841B96F43}"/>
              </a:ext>
            </a:extLst>
          </p:cNvPr>
          <p:cNvCxnSpPr>
            <a:cxnSpLocks/>
          </p:cNvCxnSpPr>
          <p:nvPr/>
        </p:nvCxnSpPr>
        <p:spPr>
          <a:xfrm>
            <a:off x="10878087" y="-185245"/>
            <a:ext cx="0" cy="7167705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D87520-25A3-22BA-AACC-34A8B39EDAFC}"/>
              </a:ext>
            </a:extLst>
          </p:cNvPr>
          <p:cNvCxnSpPr>
            <a:cxnSpLocks/>
          </p:cNvCxnSpPr>
          <p:nvPr/>
        </p:nvCxnSpPr>
        <p:spPr>
          <a:xfrm>
            <a:off x="11462812" y="-107278"/>
            <a:ext cx="0" cy="702056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09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8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0" fill="hold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0" fill="hold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5000" fill="hold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00" fill="hold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5000" fill="hold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0" fill="hold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203AF-23D0-CBEE-DD76-FC8906DC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8A7AB-F2F4-3BA7-3957-E98A541EF39F}"/>
              </a:ext>
            </a:extLst>
          </p:cNvPr>
          <p:cNvSpPr txBox="1"/>
          <p:nvPr/>
        </p:nvSpPr>
        <p:spPr>
          <a:xfrm>
            <a:off x="304800" y="-88490"/>
            <a:ext cx="141584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Univers LT Std 49 Light UltraCn" panose="020B0406020202060204" pitchFamily="34" charset="0"/>
              </a:rPr>
              <a:t>06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7E7697-0BA9-69B2-13FD-51781AF1ECC3}"/>
              </a:ext>
            </a:extLst>
          </p:cNvPr>
          <p:cNvGrpSpPr/>
          <p:nvPr/>
        </p:nvGrpSpPr>
        <p:grpSpPr>
          <a:xfrm>
            <a:off x="-89229" y="5575300"/>
            <a:ext cx="1415841" cy="1282700"/>
            <a:chOff x="-319194" y="875071"/>
            <a:chExt cx="5673854" cy="522225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8EBEF4-652B-95E9-9C3E-691BFCBDBA0E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FAA8AF-3AEF-D0DD-8A5B-8295023E7852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4AE2105-8491-E23E-A30A-F2B253ECBB69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4DB8F0-0850-1774-8BA8-4E8E2F8CAE14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BAA4C05-4504-9FB1-C81B-A5F56F9D19DC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5A04C1C-4FA1-1E1B-13A0-EED89A5394BD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F60CF7-A66D-2D11-D865-1A20C0F0568A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5A3E0B-586C-4DAB-90E7-0692F8736EE1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202E951-1EAB-C3F4-0F3A-939E39BDB267}"/>
              </a:ext>
            </a:extLst>
          </p:cNvPr>
          <p:cNvSpPr txBox="1"/>
          <p:nvPr/>
        </p:nvSpPr>
        <p:spPr>
          <a:xfrm>
            <a:off x="1562100" y="241300"/>
            <a:ext cx="8585199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4400" i="1" dirty="0">
                <a:latin typeface="Univers 75 Black" pitchFamily="50" charset="0"/>
              </a:rPr>
              <a:t>Q &amp; 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E3FDDC-C20A-C32E-162D-23EFFE226DD6}"/>
              </a:ext>
            </a:extLst>
          </p:cNvPr>
          <p:cNvCxnSpPr>
            <a:cxnSpLocks/>
          </p:cNvCxnSpPr>
          <p:nvPr/>
        </p:nvCxnSpPr>
        <p:spPr>
          <a:xfrm>
            <a:off x="10878087" y="-185245"/>
            <a:ext cx="0" cy="7167705"/>
          </a:xfrm>
          <a:prstGeom prst="line">
            <a:avLst/>
          </a:prstGeom>
          <a:ln w="508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DEB2E4-ACC4-CE47-41DA-1FE9FC063A18}"/>
              </a:ext>
            </a:extLst>
          </p:cNvPr>
          <p:cNvCxnSpPr>
            <a:cxnSpLocks/>
          </p:cNvCxnSpPr>
          <p:nvPr/>
        </p:nvCxnSpPr>
        <p:spPr>
          <a:xfrm>
            <a:off x="11462812" y="-107278"/>
            <a:ext cx="0" cy="7020560"/>
          </a:xfrm>
          <a:prstGeom prst="line">
            <a:avLst/>
          </a:prstGeom>
          <a:ln w="508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82BBDFF-ABBD-D7B3-1FE7-41B27739C0DF}"/>
              </a:ext>
            </a:extLst>
          </p:cNvPr>
          <p:cNvGrpSpPr/>
          <p:nvPr/>
        </p:nvGrpSpPr>
        <p:grpSpPr>
          <a:xfrm>
            <a:off x="96987" y="1434571"/>
            <a:ext cx="3966962" cy="3677264"/>
            <a:chOff x="-319194" y="875071"/>
            <a:chExt cx="5673854" cy="52222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8CB26D5-4A68-0A2C-7358-2D14E1CA4C96}"/>
                </a:ext>
              </a:extLst>
            </p:cNvPr>
            <p:cNvSpPr/>
            <p:nvPr/>
          </p:nvSpPr>
          <p:spPr>
            <a:xfrm rot="14972103">
              <a:off x="3428663" y="2358160"/>
              <a:ext cx="1736786" cy="2115209"/>
            </a:xfrm>
            <a:custGeom>
              <a:avLst/>
              <a:gdLst>
                <a:gd name="csX0" fmla="*/ 1736786 w 1736786"/>
                <a:gd name="csY0" fmla="*/ 2096733 h 2115209"/>
                <a:gd name="csX1" fmla="*/ 1611225 w 1736786"/>
                <a:gd name="csY1" fmla="*/ 2109550 h 2115209"/>
                <a:gd name="csX2" fmla="*/ 560096 w 1736786"/>
                <a:gd name="csY2" fmla="*/ 1955056 h 2115209"/>
                <a:gd name="csX3" fmla="*/ 102871 w 1736786"/>
                <a:gd name="csY3" fmla="*/ 1730125 h 2115209"/>
                <a:gd name="csX4" fmla="*/ 0 w 1736786"/>
                <a:gd name="csY4" fmla="*/ 1658574 h 2115209"/>
                <a:gd name="csX5" fmla="*/ 236839 w 1736786"/>
                <a:gd name="csY5" fmla="*/ 0 h 2115209"/>
                <a:gd name="csX6" fmla="*/ 1736786 w 1736786"/>
                <a:gd name="csY6" fmla="*/ 2096733 h 2115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36786" h="2115209">
                  <a:moveTo>
                    <a:pt x="1736786" y="2096733"/>
                  </a:moveTo>
                  <a:lnTo>
                    <a:pt x="1611225" y="2109550"/>
                  </a:lnTo>
                  <a:cubicBezTo>
                    <a:pt x="1264519" y="2132887"/>
                    <a:pt x="907137" y="2084567"/>
                    <a:pt x="560096" y="1955056"/>
                  </a:cubicBezTo>
                  <a:cubicBezTo>
                    <a:pt x="397381" y="1894332"/>
                    <a:pt x="244642" y="1818635"/>
                    <a:pt x="102871" y="1730125"/>
                  </a:cubicBezTo>
                  <a:lnTo>
                    <a:pt x="0" y="1658574"/>
                  </a:lnTo>
                  <a:lnTo>
                    <a:pt x="236839" y="0"/>
                  </a:lnTo>
                  <a:lnTo>
                    <a:pt x="1736786" y="209673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53B24D4-673D-EFEA-88ED-A45651462142}"/>
                </a:ext>
              </a:extLst>
            </p:cNvPr>
            <p:cNvSpPr/>
            <p:nvPr/>
          </p:nvSpPr>
          <p:spPr>
            <a:xfrm rot="14972103">
              <a:off x="3288052" y="3619483"/>
              <a:ext cx="1303863" cy="2588806"/>
            </a:xfrm>
            <a:custGeom>
              <a:avLst/>
              <a:gdLst>
                <a:gd name="csX0" fmla="*/ 848218 w 1303863"/>
                <a:gd name="csY0" fmla="*/ 2588806 h 2588806"/>
                <a:gd name="csX1" fmla="*/ 807458 w 1303863"/>
                <a:gd name="csY1" fmla="*/ 2554658 h 2588806"/>
                <a:gd name="csX2" fmla="*/ 3919 w 1303863"/>
                <a:gd name="csY2" fmla="*/ 1018961 h 2588806"/>
                <a:gd name="csX3" fmla="*/ 0 w 1303863"/>
                <a:gd name="csY3" fmla="*/ 975803 h 2588806"/>
                <a:gd name="csX4" fmla="*/ 1303863 w 1303863"/>
                <a:gd name="csY4" fmla="*/ 0 h 2588806"/>
                <a:gd name="csX5" fmla="*/ 848218 w 1303863"/>
                <a:gd name="csY5" fmla="*/ 2588806 h 2588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3863" h="2588806">
                  <a:moveTo>
                    <a:pt x="848218" y="2588806"/>
                  </a:moveTo>
                  <a:lnTo>
                    <a:pt x="807458" y="2554658"/>
                  </a:lnTo>
                  <a:cubicBezTo>
                    <a:pt x="364777" y="2152628"/>
                    <a:pt x="80754" y="1605508"/>
                    <a:pt x="3919" y="1018961"/>
                  </a:cubicBezTo>
                  <a:lnTo>
                    <a:pt x="0" y="975803"/>
                  </a:lnTo>
                  <a:lnTo>
                    <a:pt x="1303863" y="0"/>
                  </a:lnTo>
                  <a:lnTo>
                    <a:pt x="848218" y="2588806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DD718A7-48BB-2650-401D-36DFEDD3DB26}"/>
                </a:ext>
              </a:extLst>
            </p:cNvPr>
            <p:cNvSpPr/>
            <p:nvPr/>
          </p:nvSpPr>
          <p:spPr>
            <a:xfrm rot="14972103">
              <a:off x="1493424" y="4241335"/>
              <a:ext cx="1999706" cy="1712272"/>
            </a:xfrm>
            <a:custGeom>
              <a:avLst/>
              <a:gdLst>
                <a:gd name="csX0" fmla="*/ 1999706 w 1999706"/>
                <a:gd name="csY0" fmla="*/ 247842 h 1712272"/>
                <a:gd name="csX1" fmla="*/ 95 w 1999706"/>
                <a:gd name="csY1" fmla="*/ 1712272 h 1712272"/>
                <a:gd name="csX2" fmla="*/ 0 w 1999706"/>
                <a:gd name="csY2" fmla="*/ 1554628 h 1712272"/>
                <a:gd name="csX3" fmla="*/ 154980 w 1999706"/>
                <a:gd name="csY3" fmla="*/ 805925 h 1712272"/>
                <a:gd name="csX4" fmla="*/ 521289 w 1999706"/>
                <a:gd name="csY4" fmla="*/ 147845 h 1712272"/>
                <a:gd name="csX5" fmla="*/ 648252 w 1999706"/>
                <a:gd name="csY5" fmla="*/ 0 h 1712272"/>
                <a:gd name="csX6" fmla="*/ 1999706 w 1999706"/>
                <a:gd name="csY6" fmla="*/ 247842 h 171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706" h="1712272">
                  <a:moveTo>
                    <a:pt x="1999706" y="247842"/>
                  </a:moveTo>
                  <a:lnTo>
                    <a:pt x="95" y="1712272"/>
                  </a:lnTo>
                  <a:lnTo>
                    <a:pt x="0" y="1554628"/>
                  </a:lnTo>
                  <a:cubicBezTo>
                    <a:pt x="12413" y="1304772"/>
                    <a:pt x="62903" y="1052657"/>
                    <a:pt x="154980" y="805925"/>
                  </a:cubicBezTo>
                  <a:cubicBezTo>
                    <a:pt x="245640" y="562990"/>
                    <a:pt x="370180" y="342524"/>
                    <a:pt x="521289" y="147845"/>
                  </a:cubicBezTo>
                  <a:lnTo>
                    <a:pt x="648252" y="0"/>
                  </a:lnTo>
                  <a:lnTo>
                    <a:pt x="1999706" y="24784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69CFC4-4D12-21BF-4642-E5034763AEC6}"/>
                </a:ext>
              </a:extLst>
            </p:cNvPr>
            <p:cNvSpPr/>
            <p:nvPr/>
          </p:nvSpPr>
          <p:spPr>
            <a:xfrm>
              <a:off x="427049" y="3315784"/>
              <a:ext cx="1169594" cy="2312748"/>
            </a:xfrm>
            <a:custGeom>
              <a:avLst/>
              <a:gdLst>
                <a:gd name="csX0" fmla="*/ 682686 w 1169594"/>
                <a:gd name="csY0" fmla="*/ 0 h 2312748"/>
                <a:gd name="csX1" fmla="*/ 1169594 w 1169594"/>
                <a:gd name="csY1" fmla="*/ 2312748 h 2312748"/>
                <a:gd name="csX2" fmla="*/ 1016155 w 1169594"/>
                <a:gd name="csY2" fmla="*/ 2226579 h 2312748"/>
                <a:gd name="csX3" fmla="*/ 57482 w 1169594"/>
                <a:gd name="csY3" fmla="*/ 1165723 h 2312748"/>
                <a:gd name="csX4" fmla="*/ 0 w 1169594"/>
                <a:gd name="csY4" fmla="*/ 1033689 h 2312748"/>
                <a:gd name="csX5" fmla="*/ 682686 w 1169594"/>
                <a:gd name="csY5" fmla="*/ 0 h 2312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169594" h="2312748">
                  <a:moveTo>
                    <a:pt x="682686" y="0"/>
                  </a:moveTo>
                  <a:lnTo>
                    <a:pt x="1169594" y="2312748"/>
                  </a:lnTo>
                  <a:lnTo>
                    <a:pt x="1016155" y="2226579"/>
                  </a:lnTo>
                  <a:cubicBezTo>
                    <a:pt x="603136" y="1974448"/>
                    <a:pt x="268475" y="1605654"/>
                    <a:pt x="57482" y="1165723"/>
                  </a:cubicBezTo>
                  <a:lnTo>
                    <a:pt x="0" y="1033689"/>
                  </a:lnTo>
                  <a:lnTo>
                    <a:pt x="682686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ACE9BAE-EA46-4365-8531-1B231A7B5042}"/>
                </a:ext>
              </a:extLst>
            </p:cNvPr>
            <p:cNvSpPr/>
            <p:nvPr/>
          </p:nvSpPr>
          <p:spPr>
            <a:xfrm rot="2781523">
              <a:off x="169204" y="1973761"/>
              <a:ext cx="1107611" cy="2084407"/>
            </a:xfrm>
            <a:custGeom>
              <a:avLst/>
              <a:gdLst>
                <a:gd name="csX0" fmla="*/ 652320 w 1107611"/>
                <a:gd name="csY0" fmla="*/ 0 h 2084407"/>
                <a:gd name="csX1" fmla="*/ 1107611 w 1107611"/>
                <a:gd name="csY1" fmla="*/ 2084407 h 2084407"/>
                <a:gd name="csX2" fmla="*/ 1067780 w 1107611"/>
                <a:gd name="csY2" fmla="*/ 2065954 h 2084407"/>
                <a:gd name="csX3" fmla="*/ 490085 w 1107611"/>
                <a:gd name="csY3" fmla="*/ 1652183 h 2084407"/>
                <a:gd name="csX4" fmla="*/ 26392 w 1107611"/>
                <a:gd name="csY4" fmla="*/ 1054415 h 2084407"/>
                <a:gd name="csX5" fmla="*/ 0 w 1107611"/>
                <a:gd name="csY5" fmla="*/ 1001113 h 2084407"/>
                <a:gd name="csX6" fmla="*/ 652320 w 1107611"/>
                <a:gd name="csY6" fmla="*/ 0 h 2084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07611" h="2084407">
                  <a:moveTo>
                    <a:pt x="652320" y="0"/>
                  </a:moveTo>
                  <a:lnTo>
                    <a:pt x="1107611" y="2084407"/>
                  </a:lnTo>
                  <a:lnTo>
                    <a:pt x="1067780" y="2065954"/>
                  </a:lnTo>
                  <a:cubicBezTo>
                    <a:pt x="861600" y="1958614"/>
                    <a:pt x="666831" y="1820738"/>
                    <a:pt x="490085" y="1652183"/>
                  </a:cubicBezTo>
                  <a:cubicBezTo>
                    <a:pt x="301558" y="1472391"/>
                    <a:pt x="146923" y="1270459"/>
                    <a:pt x="26392" y="1054415"/>
                  </a:cubicBezTo>
                  <a:lnTo>
                    <a:pt x="0" y="1001113"/>
                  </a:lnTo>
                  <a:lnTo>
                    <a:pt x="65232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C885C5-53E3-6FED-A6C3-B9C0F486DC1E}"/>
                </a:ext>
              </a:extLst>
            </p:cNvPr>
            <p:cNvSpPr/>
            <p:nvPr/>
          </p:nvSpPr>
          <p:spPr>
            <a:xfrm>
              <a:off x="465794" y="1206930"/>
              <a:ext cx="2109701" cy="1139151"/>
            </a:xfrm>
            <a:custGeom>
              <a:avLst/>
              <a:gdLst>
                <a:gd name="csX0" fmla="*/ 1036038 w 2109701"/>
                <a:gd name="csY0" fmla="*/ 0 h 1139151"/>
                <a:gd name="csX1" fmla="*/ 2109701 w 2109701"/>
                <a:gd name="csY1" fmla="*/ 723115 h 1139151"/>
                <a:gd name="csX2" fmla="*/ 0 w 2109701"/>
                <a:gd name="csY2" fmla="*/ 1139151 h 1139151"/>
                <a:gd name="csX3" fmla="*/ 74038 w 2109701"/>
                <a:gd name="csY3" fmla="*/ 984737 h 1139151"/>
                <a:gd name="csX4" fmla="*/ 875816 w 2109701"/>
                <a:gd name="csY4" fmla="*/ 97792 h 1139151"/>
                <a:gd name="csX5" fmla="*/ 1036038 w 2109701"/>
                <a:gd name="csY5" fmla="*/ 0 h 1139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109701" h="1139151">
                  <a:moveTo>
                    <a:pt x="1036038" y="0"/>
                  </a:moveTo>
                  <a:lnTo>
                    <a:pt x="2109701" y="723115"/>
                  </a:lnTo>
                  <a:lnTo>
                    <a:pt x="0" y="1139151"/>
                  </a:lnTo>
                  <a:lnTo>
                    <a:pt x="74038" y="984737"/>
                  </a:lnTo>
                  <a:cubicBezTo>
                    <a:pt x="266779" y="628272"/>
                    <a:pt x="542779" y="323842"/>
                    <a:pt x="875816" y="97792"/>
                  </a:cubicBezTo>
                  <a:lnTo>
                    <a:pt x="1036038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31A459-5E8B-D200-16A9-90176E9D15DB}"/>
                </a:ext>
              </a:extLst>
            </p:cNvPr>
            <p:cNvSpPr/>
            <p:nvPr/>
          </p:nvSpPr>
          <p:spPr>
            <a:xfrm>
              <a:off x="1690584" y="875071"/>
              <a:ext cx="1863119" cy="1492799"/>
            </a:xfrm>
            <a:custGeom>
              <a:avLst/>
              <a:gdLst>
                <a:gd name="csX0" fmla="*/ 1051050 w 1863119"/>
                <a:gd name="csY0" fmla="*/ 0 h 1492799"/>
                <a:gd name="csX1" fmla="*/ 1555698 w 1863119"/>
                <a:gd name="csY1" fmla="*/ 51111 h 1492799"/>
                <a:gd name="csX2" fmla="*/ 1590963 w 1863119"/>
                <a:gd name="csY2" fmla="*/ 60221 h 1492799"/>
                <a:gd name="csX3" fmla="*/ 1863119 w 1863119"/>
                <a:gd name="csY3" fmla="*/ 1492799 h 1492799"/>
                <a:gd name="csX4" fmla="*/ 0 w 1863119"/>
                <a:gd name="csY4" fmla="*/ 231931 h 1492799"/>
                <a:gd name="csX5" fmla="*/ 132888 w 1863119"/>
                <a:gd name="csY5" fmla="*/ 174501 h 1492799"/>
                <a:gd name="csX6" fmla="*/ 1051050 w 1863119"/>
                <a:gd name="csY6" fmla="*/ 0 h 1492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863119" h="1492799">
                  <a:moveTo>
                    <a:pt x="1051050" y="0"/>
                  </a:moveTo>
                  <a:cubicBezTo>
                    <a:pt x="1223917" y="0"/>
                    <a:pt x="1392692" y="17599"/>
                    <a:pt x="1555698" y="51111"/>
                  </a:cubicBezTo>
                  <a:lnTo>
                    <a:pt x="1590963" y="60221"/>
                  </a:lnTo>
                  <a:lnTo>
                    <a:pt x="1863119" y="1492799"/>
                  </a:lnTo>
                  <a:lnTo>
                    <a:pt x="0" y="231931"/>
                  </a:lnTo>
                  <a:lnTo>
                    <a:pt x="132888" y="174501"/>
                  </a:lnTo>
                  <a:cubicBezTo>
                    <a:pt x="417183" y="61872"/>
                    <a:pt x="726925" y="0"/>
                    <a:pt x="1051050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FF13698-C1A1-8E02-F3C8-74CF18642FFC}"/>
                </a:ext>
              </a:extLst>
            </p:cNvPr>
            <p:cNvSpPr/>
            <p:nvPr/>
          </p:nvSpPr>
          <p:spPr>
            <a:xfrm>
              <a:off x="3492158" y="990283"/>
              <a:ext cx="1359167" cy="2339142"/>
            </a:xfrm>
            <a:custGeom>
              <a:avLst/>
              <a:gdLst>
                <a:gd name="csX0" fmla="*/ 0 w 1359167"/>
                <a:gd name="csY0" fmla="*/ 0 h 2339142"/>
                <a:gd name="csX1" fmla="*/ 181832 w 1359167"/>
                <a:gd name="csY1" fmla="*/ 64963 h 2339142"/>
                <a:gd name="csX2" fmla="*/ 1256039 w 1359167"/>
                <a:gd name="csY2" fmla="*/ 895326 h 2339142"/>
                <a:gd name="csX3" fmla="*/ 1359167 w 1359167"/>
                <a:gd name="csY3" fmla="*/ 1045764 h 2339142"/>
                <a:gd name="csX4" fmla="*/ 479417 w 1359167"/>
                <a:gd name="csY4" fmla="*/ 2339142 h 2339142"/>
                <a:gd name="csX5" fmla="*/ 0 w 1359167"/>
                <a:gd name="csY5" fmla="*/ 0 h 2339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59167" h="2339142">
                  <a:moveTo>
                    <a:pt x="0" y="0"/>
                  </a:moveTo>
                  <a:lnTo>
                    <a:pt x="181832" y="64963"/>
                  </a:lnTo>
                  <a:cubicBezTo>
                    <a:pt x="611723" y="238345"/>
                    <a:pt x="982657" y="528058"/>
                    <a:pt x="1256039" y="895326"/>
                  </a:cubicBezTo>
                  <a:lnTo>
                    <a:pt x="1359167" y="1045764"/>
                  </a:lnTo>
                  <a:lnTo>
                    <a:pt x="479417" y="2339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0DA8914-EDA5-A383-A42D-508344645C1B}"/>
              </a:ext>
            </a:extLst>
          </p:cNvPr>
          <p:cNvSpPr txBox="1"/>
          <p:nvPr/>
        </p:nvSpPr>
        <p:spPr>
          <a:xfrm>
            <a:off x="4220030" y="3538886"/>
            <a:ext cx="5702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Univers" panose="020B0503020202020204" pitchFamily="34" charset="0"/>
              </a:rPr>
              <a:t>L A B O R A T O R I E 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4CC63D-15EE-4ACB-F561-5D4832B04280}"/>
              </a:ext>
            </a:extLst>
          </p:cNvPr>
          <p:cNvSpPr/>
          <p:nvPr/>
        </p:nvSpPr>
        <p:spPr>
          <a:xfrm rot="14972103">
            <a:off x="2602602" y="2337076"/>
            <a:ext cx="1311614" cy="1759094"/>
          </a:xfrm>
          <a:custGeom>
            <a:avLst/>
            <a:gdLst>
              <a:gd name="csX0" fmla="*/ 1736786 w 1736786"/>
              <a:gd name="csY0" fmla="*/ 2096733 h 2115209"/>
              <a:gd name="csX1" fmla="*/ 1611225 w 1736786"/>
              <a:gd name="csY1" fmla="*/ 2109550 h 2115209"/>
              <a:gd name="csX2" fmla="*/ 560096 w 1736786"/>
              <a:gd name="csY2" fmla="*/ 1955056 h 2115209"/>
              <a:gd name="csX3" fmla="*/ 102871 w 1736786"/>
              <a:gd name="csY3" fmla="*/ 1730125 h 2115209"/>
              <a:gd name="csX4" fmla="*/ 0 w 1736786"/>
              <a:gd name="csY4" fmla="*/ 1658574 h 2115209"/>
              <a:gd name="csX5" fmla="*/ 236839 w 1736786"/>
              <a:gd name="csY5" fmla="*/ 0 h 2115209"/>
              <a:gd name="csX6" fmla="*/ 1736786 w 1736786"/>
              <a:gd name="csY6" fmla="*/ 2096733 h 2115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736786" h="2115209">
                <a:moveTo>
                  <a:pt x="1736786" y="2096733"/>
                </a:moveTo>
                <a:lnTo>
                  <a:pt x="1611225" y="2109550"/>
                </a:lnTo>
                <a:cubicBezTo>
                  <a:pt x="1264519" y="2132887"/>
                  <a:pt x="907137" y="2084567"/>
                  <a:pt x="560096" y="1955056"/>
                </a:cubicBezTo>
                <a:cubicBezTo>
                  <a:pt x="397381" y="1894332"/>
                  <a:pt x="244642" y="1818635"/>
                  <a:pt x="102871" y="1730125"/>
                </a:cubicBezTo>
                <a:lnTo>
                  <a:pt x="0" y="1658574"/>
                </a:lnTo>
                <a:lnTo>
                  <a:pt x="236839" y="0"/>
                </a:lnTo>
                <a:lnTo>
                  <a:pt x="1736786" y="209673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5D4189-622F-1AB8-1908-157AD435223D}"/>
              </a:ext>
            </a:extLst>
          </p:cNvPr>
          <p:cNvSpPr txBox="1"/>
          <p:nvPr/>
        </p:nvSpPr>
        <p:spPr>
          <a:xfrm>
            <a:off x="3228605" y="2294686"/>
            <a:ext cx="1078029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0" i="1" dirty="0">
                <a:latin typeface="Univers 75 Black" pitchFamily="50" charset="0"/>
                <a:ea typeface="Verdana" panose="020B0604030504040204" pitchFamily="34" charset="0"/>
              </a:rPr>
              <a:t>APERTURE</a:t>
            </a:r>
          </a:p>
        </p:txBody>
      </p:sp>
    </p:spTree>
    <p:extLst>
      <p:ext uri="{BB962C8B-B14F-4D97-AF65-F5344CB8AC3E}">
        <p14:creationId xmlns:p14="http://schemas.microsoft.com/office/powerpoint/2010/main" val="33030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766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Courier New</vt:lpstr>
      <vt:lpstr>Arial</vt:lpstr>
      <vt:lpstr>Univers 75 Black</vt:lpstr>
      <vt:lpstr>Univers</vt:lpstr>
      <vt:lpstr>Calibri Light</vt:lpstr>
      <vt:lpstr>Univers Condensed</vt:lpstr>
      <vt:lpstr>Calibri</vt:lpstr>
      <vt:lpstr>Univers LT Std 49 Light UltraCn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Corlew, Whitman J</dc:creator>
  <cp:lastModifiedBy>Corlew, Whitman J</cp:lastModifiedBy>
  <cp:revision>1</cp:revision>
  <dcterms:created xsi:type="dcterms:W3CDTF">2026-05-04T08:24:36Z</dcterms:created>
  <dcterms:modified xsi:type="dcterms:W3CDTF">2026-05-10T21:41:06Z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b55589f-69af-4b8f-bb7e-f33b2c49fdb7_Enabled">
    <vt:lpwstr>true</vt:lpwstr>
  </property>
  <property fmtid="{D5CDD505-2E9C-101B-9397-08002B2CF9AE}" pid="3" name="MSIP_Label_db55589f-69af-4b8f-bb7e-f33b2c49fdb7_SetDate">
    <vt:lpwstr>2026-05-04T14:07:04Z</vt:lpwstr>
  </property>
  <property fmtid="{D5CDD505-2E9C-101B-9397-08002B2CF9AE}" pid="4" name="MSIP_Label_db55589f-69af-4b8f-bb7e-f33b2c49fdb7_Method">
    <vt:lpwstr>Standard</vt:lpwstr>
  </property>
  <property fmtid="{D5CDD505-2E9C-101B-9397-08002B2CF9AE}" pid="5" name="MSIP_Label_db55589f-69af-4b8f-bb7e-f33b2c49fdb7_Name">
    <vt:lpwstr>Sensitive (Internal)</vt:lpwstr>
  </property>
  <property fmtid="{D5CDD505-2E9C-101B-9397-08002B2CF9AE}" pid="6" name="MSIP_Label_db55589f-69af-4b8f-bb7e-f33b2c49fdb7_SiteId">
    <vt:lpwstr>4d401e0b-6552-4e08-bd38-a8d15ca0ddd9</vt:lpwstr>
  </property>
  <property fmtid="{D5CDD505-2E9C-101B-9397-08002B2CF9AE}" pid="7" name="MSIP_Label_db55589f-69af-4b8f-bb7e-f33b2c49fdb7_ActionId">
    <vt:lpwstr>d2fb4271-2bdf-41d2-8747-c4566cda16c1</vt:lpwstr>
  </property>
  <property fmtid="{D5CDD505-2E9C-101B-9397-08002B2CF9AE}" pid="8" name="MSIP_Label_db55589f-69af-4b8f-bb7e-f33b2c49fdb7_Provider">
    <vt:lpwstr>Varonis.Labeling</vt:lpwstr>
  </property>
  <property fmtid="{D5CDD505-2E9C-101B-9397-08002B2CF9AE}" pid="9" name="MSIP_Label_db55589f-69af-4b8f-bb7e-f33b2c49fdb7_ContentBits">
    <vt:lpwstr>0</vt:lpwstr>
  </property>
</Properties>
</file>